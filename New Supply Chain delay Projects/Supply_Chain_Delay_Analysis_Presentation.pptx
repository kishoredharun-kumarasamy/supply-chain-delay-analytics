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Delay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Executive Overview Dashboard</a:t>
            </a:r>
          </a:p>
        </p:txBody>
      </p:sp>
      <p:pic>
        <p:nvPicPr>
          <p:cNvPr id="4" name="Picture 3" descr="Screenshot 2026-06-16 133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3284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Presentation Script:</a:t>
            </a:r>
          </a:p>
          <a:p>
            <a:pPr lvl="1">
              <a:defRPr sz="1400"/>
            </a:pPr>
            <a:r>
              <a:t>This dashboard provides a high-level overview of supply chain performance.</a:t>
            </a:r>
          </a:p>
          <a:p>
            <a:pPr lvl="1">
              <a:defRPr sz="1400"/>
            </a:pPr>
            <a:r>
              <a:t>The company handled 20K total orders with $1.1M shipping cost.</a:t>
            </a:r>
          </a:p>
          <a:p>
            <a:pPr lvl="1">
              <a:defRPr sz="1400"/>
            </a:pPr>
            <a:r>
              <a:t>SLA breach rate is around 49.94%, which indicates delivery delays.</a:t>
            </a:r>
          </a:p>
          <a:p>
            <a:pPr lvl="1">
              <a:defRPr sz="1400"/>
            </a:pPr>
            <a:r>
              <a:t>International routes have slightly more delayed orders than domestic routes.</a:t>
            </a:r>
          </a:p>
          <a:p>
            <a:pPr lvl="1">
              <a:defRPr sz="1400"/>
            </a:pPr>
            <a:r>
              <a:t>FedEx handled the highest number of orders among all carriers.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Delivery Performance Dashboard</a:t>
            </a:r>
          </a:p>
        </p:txBody>
      </p:sp>
      <p:pic>
        <p:nvPicPr>
          <p:cNvPr id="4" name="Picture 3" descr="Screenshot 2026-06-16 133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38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Presentation Script:</a:t>
            </a:r>
          </a:p>
          <a:p>
            <a:pPr lvl="1">
              <a:defRPr sz="1400"/>
            </a:pPr>
            <a:r>
              <a:t>This dashboard focuses on delivery efficiency and transit performance.</a:t>
            </a:r>
          </a:p>
          <a:p>
            <a:pPr lvl="1">
              <a:defRPr sz="1400"/>
            </a:pPr>
            <a:r>
              <a:t>On-time delivery percentage is 50.06%.</a:t>
            </a:r>
          </a:p>
          <a:p>
            <a:pPr lvl="1">
              <a:defRPr sz="1400"/>
            </a:pPr>
            <a:r>
              <a:t>Average delay is 3.43 days and average transit time is 6.51 days.</a:t>
            </a:r>
          </a:p>
          <a:p>
            <a:pPr lvl="1">
              <a:defRPr sz="1400"/>
            </a:pPr>
            <a:r>
              <a:t>Weather, customs, and warehouse issues contribute to delivery delays.</a:t>
            </a:r>
          </a:p>
          <a:p>
            <a:pPr lvl="1">
              <a:defRPr sz="1400"/>
            </a:pPr>
            <a:r>
              <a:t>All carriers show similar SLA breach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and Risk Dashboard</a:t>
            </a:r>
          </a:p>
        </p:txBody>
      </p:sp>
      <p:pic>
        <p:nvPicPr>
          <p:cNvPr id="4" name="Picture 3" descr="Screenshot 2026-06-16 133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299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Presentation Script:</a:t>
            </a:r>
          </a:p>
          <a:p>
            <a:pPr lvl="1">
              <a:defRPr sz="1400"/>
            </a:pPr>
            <a:r>
              <a:t>This dashboard analyzes logistics cost and operational risks.</a:t>
            </a:r>
          </a:p>
          <a:p>
            <a:pPr lvl="1">
              <a:defRPr sz="1400"/>
            </a:pPr>
            <a:r>
              <a:t>Total penalty cost is $68.5K due to delays and SLA breaches.</a:t>
            </a:r>
          </a:p>
          <a:p>
            <a:pPr lvl="1">
              <a:defRPr sz="1400"/>
            </a:pPr>
            <a:r>
              <a:t>Weather-related delays generated the highest penalty cost.</a:t>
            </a:r>
          </a:p>
          <a:p>
            <a:pPr lvl="1">
              <a:defRPr sz="1400"/>
            </a:pPr>
            <a:r>
              <a:t>Sea shipping has higher shipping cost compared to road and air transport.</a:t>
            </a:r>
          </a:p>
          <a:p>
            <a:pPr lvl="1">
              <a:defRPr sz="1400"/>
            </a:pPr>
            <a:r>
              <a:t>High-risk orders percentage is 33.36%.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Warehouse Operation Dashboard</a:t>
            </a:r>
          </a:p>
        </p:txBody>
      </p:sp>
      <p:pic>
        <p:nvPicPr>
          <p:cNvPr id="4" name="Picture 3" descr="Screenshot 2026-06-16 133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327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Presentation Script:</a:t>
            </a:r>
          </a:p>
          <a:p>
            <a:pPr lvl="1">
              <a:defRPr sz="1400"/>
            </a:pPr>
            <a:r>
              <a:t>This dashboard tracks warehouse processing and operational efficiency.</a:t>
            </a:r>
          </a:p>
          <a:p>
            <a:pPr lvl="1">
              <a:defRPr sz="1400"/>
            </a:pPr>
            <a:r>
              <a:t>Average processing time is 2.5 days.</a:t>
            </a:r>
          </a:p>
          <a:p>
            <a:pPr lvl="1">
              <a:defRPr sz="1400"/>
            </a:pPr>
            <a:r>
              <a:t>Stockout and disruption rates are close to 50%.</a:t>
            </a:r>
          </a:p>
          <a:p>
            <a:pPr lvl="1">
              <a:defRPr sz="1400"/>
            </a:pPr>
            <a:r>
              <a:t>North America has higher carrier-related delays.</a:t>
            </a:r>
          </a:p>
          <a:p>
            <a:pPr lvl="1">
              <a:defRPr sz="1400"/>
            </a:pPr>
            <a:r>
              <a:t>Warehouse WH1 and WH2 show similar performance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Customer Experience Dashboard</a:t>
            </a:r>
          </a:p>
        </p:txBody>
      </p:sp>
      <p:pic>
        <p:nvPicPr>
          <p:cNvPr id="4" name="Picture 3" descr="Screenshot 2026-06-16 133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4365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Presentation Script:</a:t>
            </a:r>
          </a:p>
          <a:p>
            <a:pPr lvl="1">
              <a:defRPr sz="1400"/>
            </a:pPr>
            <a:r>
              <a:t>This dashboard focuses on customer satisfaction and complaints.</a:t>
            </a:r>
          </a:p>
          <a:p>
            <a:pPr lvl="1">
              <a:defRPr sz="1400"/>
            </a:pPr>
            <a:r>
              <a:t>Customer satisfaction score is 3 out of 5.</a:t>
            </a:r>
          </a:p>
          <a:p>
            <a:pPr lvl="1">
              <a:defRPr sz="1400"/>
            </a:pPr>
            <a:r>
              <a:t>Return rate is 50.3% and complaint count is around 10K.</a:t>
            </a:r>
          </a:p>
          <a:p>
            <a:pPr lvl="1">
              <a:defRPr sz="1400"/>
            </a:pPr>
            <a:r>
              <a:t>Premium and regular customers show similar satisfaction levels.</a:t>
            </a:r>
          </a:p>
          <a:p>
            <a:pPr lvl="1">
              <a:defRPr sz="1400"/>
            </a:pPr>
            <a:r>
              <a:t>Customer satisfaction remained stable throughout the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Supply chain delays are mainly influenced by weather, warehouse, and customs issues.</a:t>
            </a:r>
          </a:p>
          <a:p>
            <a:pPr lvl="1"/>
            <a:r>
              <a:t>SLA breach rate and delayed orders are close to 50%, indicating improvement opportunities.</a:t>
            </a:r>
          </a:p>
          <a:p>
            <a:pPr lvl="1"/>
            <a:r>
              <a:t>Penalty costs can be reduced by improving warehouse efficiency and delivery planning.</a:t>
            </a:r>
          </a:p>
          <a:p>
            <a:pPr lvl="1"/>
            <a:r>
              <a:t>Customer satisfaction can improve with faster delivery and better issue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